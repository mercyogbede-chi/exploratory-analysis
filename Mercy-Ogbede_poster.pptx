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9" r:id="rId2"/>
  </p:sldIdLst>
  <p:sldSz cx="43891200" cy="21945600"/>
  <p:notesSz cx="6858000" cy="9144000"/>
  <p:defaultTextStyle>
    <a:defPPr>
      <a:defRPr lang="en-US"/>
    </a:defPPr>
    <a:lvl1pPr marL="0" algn="l" defTabSz="3370844" rtl="0" eaLnBrk="1" latinLnBrk="0" hangingPunct="1">
      <a:defRPr sz="6636" kern="1200">
        <a:solidFill>
          <a:schemeClr val="tx1"/>
        </a:solidFill>
        <a:latin typeface="+mn-lt"/>
        <a:ea typeface="+mn-ea"/>
        <a:cs typeface="+mn-cs"/>
      </a:defRPr>
    </a:lvl1pPr>
    <a:lvl2pPr marL="1685422" algn="l" defTabSz="3370844" rtl="0" eaLnBrk="1" latinLnBrk="0" hangingPunct="1">
      <a:defRPr sz="6636" kern="1200">
        <a:solidFill>
          <a:schemeClr val="tx1"/>
        </a:solidFill>
        <a:latin typeface="+mn-lt"/>
        <a:ea typeface="+mn-ea"/>
        <a:cs typeface="+mn-cs"/>
      </a:defRPr>
    </a:lvl2pPr>
    <a:lvl3pPr marL="3370844" algn="l" defTabSz="3370844" rtl="0" eaLnBrk="1" latinLnBrk="0" hangingPunct="1">
      <a:defRPr sz="6636" kern="1200">
        <a:solidFill>
          <a:schemeClr val="tx1"/>
        </a:solidFill>
        <a:latin typeface="+mn-lt"/>
        <a:ea typeface="+mn-ea"/>
        <a:cs typeface="+mn-cs"/>
      </a:defRPr>
    </a:lvl3pPr>
    <a:lvl4pPr marL="5056266" algn="l" defTabSz="3370844" rtl="0" eaLnBrk="1" latinLnBrk="0" hangingPunct="1">
      <a:defRPr sz="6636" kern="1200">
        <a:solidFill>
          <a:schemeClr val="tx1"/>
        </a:solidFill>
        <a:latin typeface="+mn-lt"/>
        <a:ea typeface="+mn-ea"/>
        <a:cs typeface="+mn-cs"/>
      </a:defRPr>
    </a:lvl4pPr>
    <a:lvl5pPr marL="6741689" algn="l" defTabSz="3370844" rtl="0" eaLnBrk="1" latinLnBrk="0" hangingPunct="1">
      <a:defRPr sz="6636" kern="1200">
        <a:solidFill>
          <a:schemeClr val="tx1"/>
        </a:solidFill>
        <a:latin typeface="+mn-lt"/>
        <a:ea typeface="+mn-ea"/>
        <a:cs typeface="+mn-cs"/>
      </a:defRPr>
    </a:lvl5pPr>
    <a:lvl6pPr marL="8427110" algn="l" defTabSz="3370844" rtl="0" eaLnBrk="1" latinLnBrk="0" hangingPunct="1">
      <a:defRPr sz="6636" kern="1200">
        <a:solidFill>
          <a:schemeClr val="tx1"/>
        </a:solidFill>
        <a:latin typeface="+mn-lt"/>
        <a:ea typeface="+mn-ea"/>
        <a:cs typeface="+mn-cs"/>
      </a:defRPr>
    </a:lvl6pPr>
    <a:lvl7pPr marL="10112532" algn="l" defTabSz="3370844" rtl="0" eaLnBrk="1" latinLnBrk="0" hangingPunct="1">
      <a:defRPr sz="6636" kern="1200">
        <a:solidFill>
          <a:schemeClr val="tx1"/>
        </a:solidFill>
        <a:latin typeface="+mn-lt"/>
        <a:ea typeface="+mn-ea"/>
        <a:cs typeface="+mn-cs"/>
      </a:defRPr>
    </a:lvl7pPr>
    <a:lvl8pPr marL="11797955" algn="l" defTabSz="3370844" rtl="0" eaLnBrk="1" latinLnBrk="0" hangingPunct="1">
      <a:defRPr sz="6636" kern="1200">
        <a:solidFill>
          <a:schemeClr val="tx1"/>
        </a:solidFill>
        <a:latin typeface="+mn-lt"/>
        <a:ea typeface="+mn-ea"/>
        <a:cs typeface="+mn-cs"/>
      </a:defRPr>
    </a:lvl8pPr>
    <a:lvl9pPr marL="13483376" algn="l" defTabSz="3370844" rtl="0" eaLnBrk="1" latinLnBrk="0" hangingPunct="1">
      <a:defRPr sz="663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6DC0"/>
    <a:srgbClr val="0035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0"/>
    <p:restoredTop sz="94737"/>
  </p:normalViewPr>
  <p:slideViewPr>
    <p:cSldViewPr snapToGrid="0" snapToObjects="1" showGuides="1">
      <p:cViewPr varScale="1">
        <p:scale>
          <a:sx n="31" d="100"/>
          <a:sy n="31" d="100"/>
        </p:scale>
        <p:origin x="368" y="-104"/>
      </p:cViewPr>
      <p:guideLst>
        <p:guide orient="horz" pos="6912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336B92-09F4-F843-9C4E-8633A9568E95}"/>
              </a:ext>
            </a:extLst>
          </p:cNvPr>
          <p:cNvSpPr/>
          <p:nvPr userDrawn="1"/>
        </p:nvSpPr>
        <p:spPr>
          <a:xfrm>
            <a:off x="0" y="-62620"/>
            <a:ext cx="43891200" cy="3123866"/>
          </a:xfrm>
          <a:prstGeom prst="rect">
            <a:avLst/>
          </a:prstGeom>
          <a:solidFill>
            <a:srgbClr val="286D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7963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2DC7F1-5F3B-F847-A2D3-C965869291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993" y="721244"/>
            <a:ext cx="24935739" cy="1844150"/>
          </a:xfrm>
        </p:spPr>
        <p:txBody>
          <a:bodyPr anchor="ctr">
            <a:normAutofit/>
          </a:bodyPr>
          <a:lstStyle>
            <a:lvl1pPr marL="0" indent="0">
              <a:buNone/>
              <a:defRPr sz="80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Title of poster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15ADB9-F35A-0E43-B7E1-E86069CB85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458466" y="721244"/>
            <a:ext cx="14799654" cy="1844150"/>
          </a:xfrm>
        </p:spPr>
        <p:txBody>
          <a:bodyPr anchor="ctr"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 names</a:t>
            </a:r>
          </a:p>
        </p:txBody>
      </p:sp>
      <p:pic>
        <p:nvPicPr>
          <p:cNvPr id="13" name="Picture 28" descr="ysm_shield.gif">
            <a:extLst>
              <a:ext uri="{FF2B5EF4-FFF2-40B4-BE49-F238E27FC236}">
                <a16:creationId xmlns:a16="http://schemas.microsoft.com/office/drawing/2014/main" id="{E2CAACF7-447D-9941-B023-838FA026D4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9853" y="763386"/>
            <a:ext cx="1237574" cy="155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04D83BB-9F30-9541-9620-6427B01FA0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0994" y="3639909"/>
            <a:ext cx="8851392" cy="661099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286DC0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>
                <a:latin typeface="Georgia" panose="02040502050405020303" pitchFamily="18" charset="0"/>
              </a:rPr>
              <a:t>Section title</a:t>
            </a:r>
            <a:endParaRPr lang="en-US" dirty="0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258FD79-DE5E-C84C-BE47-CE45ACCA48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546658" y="3633903"/>
            <a:ext cx="10601540" cy="667105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286DC0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>
                <a:latin typeface="Georgia" panose="02040502050405020303" pitchFamily="18" charset="0"/>
              </a:rPr>
              <a:t>Section title</a:t>
            </a:r>
            <a:endParaRPr lang="en-US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1828F134-1068-774B-80FD-2B4E50E7A0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932468" y="3633903"/>
            <a:ext cx="10706625" cy="667105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286DC0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>
                <a:latin typeface="Georgia" panose="02040502050405020303" pitchFamily="18" charset="0"/>
              </a:rPr>
              <a:t>Section title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0894279-279B-1548-B9CF-C11458D8A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9282" y="9685868"/>
            <a:ext cx="8851392" cy="763847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286DC0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>
                <a:latin typeface="Georgia" panose="02040502050405020303" pitchFamily="18" charset="0"/>
              </a:rPr>
              <a:t>Section title</a:t>
            </a:r>
            <a:endParaRPr lang="en-US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D71F294-89EB-D94B-B0BB-74F4AD6BA1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0993" y="15881854"/>
            <a:ext cx="8812531" cy="753779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286DC0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>
                <a:latin typeface="Georgia" panose="02040502050405020303" pitchFamily="18" charset="0"/>
              </a:rPr>
              <a:t>Section title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ECD92C72-2395-DB45-860F-A519C0D416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23363" y="3634741"/>
            <a:ext cx="9684064" cy="666267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286DC0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>
                <a:latin typeface="Georgia" panose="02040502050405020303" pitchFamily="18" charset="0"/>
              </a:rPr>
              <a:t>Section title</a:t>
            </a:r>
            <a:endParaRPr lang="en-US" dirty="0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E6EF7909-9539-924A-8F39-640E16F4DA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23363" y="9690373"/>
            <a:ext cx="9684064" cy="758552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286DC0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>
                <a:latin typeface="Georgia" panose="02040502050405020303" pitchFamily="18" charset="0"/>
              </a:rPr>
              <a:t>Section title</a:t>
            </a:r>
            <a:endParaRPr lang="en-US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498D18E4-0EB6-CD4D-9A78-EEC5268BD6B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23207" y="15855119"/>
            <a:ext cx="9684219" cy="780513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286DC0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>
                <a:latin typeface="Georgia" panose="02040502050405020303" pitchFamily="18" charset="0"/>
              </a:rPr>
              <a:t>Section title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F566BD3-E259-0D40-B475-A4191EA4B6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0994" y="4447303"/>
            <a:ext cx="8812530" cy="4890473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Background goes here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F935FFE4-1948-A54D-933B-04A9C10E8B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9856" y="10587845"/>
            <a:ext cx="8812530" cy="4945918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Objectives go here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6D23B4EE-F60B-F248-A1D5-2191540DE9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1563" y="16773525"/>
            <a:ext cx="8812530" cy="445359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Questions go here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7F77C156-0509-5142-9F7C-27023874F5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423363" y="4448897"/>
            <a:ext cx="9684064" cy="488887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Limitations go here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BD6DC2FE-960B-A444-9117-4456B0BDAFE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23208" y="10563225"/>
            <a:ext cx="9684219" cy="4970538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Conclusions go here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25BADF0C-08A2-5442-8004-B038DC1ADE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423208" y="16774511"/>
            <a:ext cx="9684220" cy="4452604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References/acknowledgments here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862E136-2530-114D-9B1B-649C36CF64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46657" y="4409545"/>
            <a:ext cx="10601541" cy="1681757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76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32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32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Methods go here</a:t>
            </a: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1CB4DD04-8D36-7D4F-A277-1B7B5770F0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932468" y="4410887"/>
            <a:ext cx="10706625" cy="16816228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76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32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32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Results go here</a:t>
            </a:r>
          </a:p>
        </p:txBody>
      </p:sp>
    </p:spTree>
    <p:extLst>
      <p:ext uri="{BB962C8B-B14F-4D97-AF65-F5344CB8AC3E}">
        <p14:creationId xmlns:p14="http://schemas.microsoft.com/office/powerpoint/2010/main" val="1594077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4">
          <p15:clr>
            <a:srgbClr val="FBAE40"/>
          </p15:clr>
        </p15:guide>
        <p15:guide id="2" pos="7315">
          <p15:clr>
            <a:srgbClr val="FBAE40"/>
          </p15:clr>
        </p15:guide>
        <p15:guide id="3" orient="horz" pos="3096" userDrawn="1">
          <p15:clr>
            <a:srgbClr val="FBAE40"/>
          </p15:clr>
        </p15:guide>
        <p15:guide id="4" pos="8525">
          <p15:clr>
            <a:srgbClr val="FBAE40"/>
          </p15:clr>
        </p15:guide>
        <p15:guide id="5" orient="horz" pos="13416" userDrawn="1">
          <p15:clr>
            <a:srgbClr val="FBAE40"/>
          </p15:clr>
        </p15:guide>
        <p15:guide id="6" orient="horz" pos="55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069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4">
          <p15:clr>
            <a:srgbClr val="FBAE40"/>
          </p15:clr>
        </p15:guide>
        <p15:guide id="2" pos="7315">
          <p15:clr>
            <a:srgbClr val="FBAE40"/>
          </p15:clr>
        </p15:guide>
        <p15:guide id="3" orient="horz" pos="3096">
          <p15:clr>
            <a:srgbClr val="FBAE40"/>
          </p15:clr>
        </p15:guide>
        <p15:guide id="4" pos="8525">
          <p15:clr>
            <a:srgbClr val="FBAE40"/>
          </p15:clr>
        </p15:guide>
        <p15:guide id="5" orient="horz" pos="13416">
          <p15:clr>
            <a:srgbClr val="FBAE40"/>
          </p15:clr>
        </p15:guide>
        <p15:guide id="6" orient="horz" pos="556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168401"/>
            <a:ext cx="3785616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5842000"/>
            <a:ext cx="3785616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20340322"/>
            <a:ext cx="98755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42243-C3D1-1C4E-BA42-360A40CD5D4A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20340322"/>
            <a:ext cx="1481328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20340322"/>
            <a:ext cx="98755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525E2-93CE-8847-8021-44907757B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08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9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6EAA63-CAC0-E243-82AA-EB1E091703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63628" y="837744"/>
            <a:ext cx="35779307" cy="1844150"/>
          </a:xfrm>
        </p:spPr>
        <p:txBody>
          <a:bodyPr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60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Patient Experiences and Outcomes After Myomectomy: A Text Analysis of Online Narratives</a:t>
            </a:r>
          </a:p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5400" dirty="0">
                <a:latin typeface="Arial" panose="020B0604020202020204" pitchFamily="34" charset="0"/>
                <a:cs typeface="Arial" panose="020B0604020202020204" pitchFamily="34" charset="0"/>
              </a:rPr>
              <a:t>Mercy C. Ogbede</a:t>
            </a:r>
          </a:p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4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Analytics and Computational Social Science, University of Massachusetts, Amherst, United States</a:t>
            </a:r>
          </a:p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CA" sz="6000" b="0" i="0" u="none" strike="noStrike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8010F-9F54-E94F-8DEA-7E19093BC9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9856" y="4017192"/>
            <a:ext cx="8851392" cy="661099"/>
          </a:xfrm>
        </p:spPr>
        <p:txBody>
          <a:bodyPr/>
          <a:lstStyle/>
          <a:p>
            <a:pPr algn="l"/>
            <a:r>
              <a:rPr lang="en-CA" sz="6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endParaRPr lang="en-US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5B8E74-F026-1247-8FBE-0984D1E0D8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3218" y="11822669"/>
            <a:ext cx="8851392" cy="76384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CA" sz="6000" b="1" dirty="0">
                <a:latin typeface="Arial" panose="020B0604020202020204" pitchFamily="34" charset="0"/>
                <a:cs typeface="Arial" panose="020B0604020202020204" pitchFamily="34" charset="0"/>
              </a:rPr>
              <a:t>Research Question</a:t>
            </a:r>
            <a:endParaRPr lang="en-CA" sz="60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endParaRPr lang="en-CA" sz="6000" b="0" i="0" u="none" strike="noStrike" dirty="0">
              <a:solidFill>
                <a:srgbClr val="20252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CA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483460-E1B5-3B4B-BC5C-26AC79235C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626908" y="3281482"/>
            <a:ext cx="9684064" cy="666267"/>
          </a:xfrm>
        </p:spPr>
        <p:txBody>
          <a:bodyPr/>
          <a:lstStyle/>
          <a:p>
            <a:r>
              <a:rPr lang="en-CA" sz="6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Sentiment Analysis</a:t>
            </a:r>
          </a:p>
          <a:p>
            <a:endParaRPr lang="en-US" sz="60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BAEE7C-DF3A-9E44-B664-C185C3CC6C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23363" y="3441973"/>
            <a:ext cx="9684064" cy="758552"/>
          </a:xfrm>
        </p:spPr>
        <p:txBody>
          <a:bodyPr/>
          <a:lstStyle/>
          <a:p>
            <a:r>
              <a:rPr lang="en-CA" sz="6000" b="1" i="0" dirty="0">
                <a:effectLst/>
                <a:latin typeface="Inter"/>
              </a:rPr>
              <a:t>Conclusion</a:t>
            </a:r>
          </a:p>
          <a:p>
            <a:endParaRPr lang="en-US" sz="60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026520E-EE28-DF49-9B76-E6E10669AC6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802707" y="10749719"/>
            <a:ext cx="9684219" cy="780513"/>
          </a:xfrm>
        </p:spPr>
        <p:txBody>
          <a:bodyPr/>
          <a:lstStyle/>
          <a:p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STM</a:t>
            </a:r>
            <a:r>
              <a:rPr lang="en-US" sz="6000" dirty="0"/>
              <a:t> </a:t>
            </a:r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Topics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FFF401-1CCF-5942-81BD-5C00784924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9856" y="5144950"/>
            <a:ext cx="8812530" cy="6087675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3200" dirty="0">
                <a:effectLst/>
              </a:rPr>
              <a:t>Uterine fibroids affect up to 70% of women of reproductive age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3200" dirty="0"/>
              <a:t>Myomectomy surgically removes fibroids while preserving the uterus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3200" dirty="0"/>
              <a:t>Online communities like Reddit provide authentic patient voices often missing from clinical research</a:t>
            </a:r>
          </a:p>
          <a:p>
            <a:pPr>
              <a:lnSpc>
                <a:spcPct val="100000"/>
              </a:lnSpc>
            </a:pPr>
            <a:r>
              <a:rPr lang="en-CA" sz="3200" dirty="0"/>
              <a:t>This study analyzes how women describe their recovery experiences through Reddit posts</a:t>
            </a:r>
            <a:endParaRPr lang="en-US" sz="32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E3992AC-C1A1-E347-9569-E7D8CE947A7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1741208" y="4409544"/>
            <a:ext cx="9684064" cy="6087675"/>
          </a:xfrm>
        </p:spPr>
        <p:txBody>
          <a:bodyPr>
            <a:normAutofit/>
          </a:bodyPr>
          <a:lstStyle/>
          <a:p>
            <a:r>
              <a:rPr lang="en-US" sz="3200" dirty="0"/>
              <a:t>Sentiment distribution of how women described their experience:</a:t>
            </a:r>
          </a:p>
          <a:p>
            <a:r>
              <a:rPr lang="en-US" sz="3200" dirty="0"/>
              <a:t>• 48% Neutral</a:t>
            </a:r>
          </a:p>
          <a:p>
            <a:r>
              <a:rPr lang="en-US" sz="3200" dirty="0"/>
              <a:t>• 28% Negative</a:t>
            </a:r>
          </a:p>
          <a:p>
            <a:r>
              <a:rPr lang="en-US" sz="3200" dirty="0"/>
              <a:t>• 12% Positive</a:t>
            </a:r>
          </a:p>
          <a:p>
            <a:r>
              <a:rPr lang="en-US" sz="3200" dirty="0"/>
              <a:t>• 12% Mixed</a:t>
            </a:r>
          </a:p>
          <a:p>
            <a:r>
              <a:rPr lang="en-US" sz="3200" dirty="0"/>
              <a:t>Emotional recovery is variable, not uniformly positive.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C617FEE-3FB6-9048-976A-9A6E35090E2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423208" y="4238624"/>
            <a:ext cx="9684219" cy="673417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hypothesis that </a:t>
            </a:r>
            <a:r>
              <a:rPr lang="en-CA" sz="3200" dirty="0"/>
              <a:t>most women would describe improvement after myomectomy</a:t>
            </a:r>
            <a:r>
              <a:rPr lang="en-US" sz="3200" dirty="0"/>
              <a:t> is rejected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Some posts expressed hope and recovery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However, negative and neutral tones were more common than positive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Pain-related language remained prominent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Online communities serve as spaces for validation and shared experience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Patient narratives reveal ongoing uncertainty rather than straightforward improvement</a:t>
            </a:r>
          </a:p>
          <a:p>
            <a:endParaRPr lang="en-US" sz="32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FA14B-691E-7A43-AAC2-9A86A8EF54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802707" y="11707210"/>
            <a:ext cx="11954641" cy="8981089"/>
          </a:xfrm>
        </p:spPr>
        <p:txBody>
          <a:bodyPr>
            <a:noAutofit/>
          </a:bodyPr>
          <a:lstStyle/>
          <a:p>
            <a:r>
              <a:rPr lang="en-US" sz="3200" dirty="0"/>
              <a:t>Five themes were identified</a:t>
            </a:r>
          </a:p>
          <a:p>
            <a:r>
              <a:rPr lang="en-US" sz="3200" dirty="0"/>
              <a:t>1. Diagnostic Processes</a:t>
            </a:r>
          </a:p>
          <a:p>
            <a:r>
              <a:rPr lang="en-US" sz="3200" dirty="0"/>
              <a:t>   ultrasound, gyn, routine</a:t>
            </a:r>
          </a:p>
          <a:p>
            <a:r>
              <a:rPr lang="en-US" sz="3200" dirty="0"/>
              <a:t>2. Pain &amp; Work Management</a:t>
            </a:r>
          </a:p>
          <a:p>
            <a:r>
              <a:rPr lang="en-US" sz="3200" dirty="0"/>
              <a:t>   pain, manage, work, doctor</a:t>
            </a:r>
          </a:p>
          <a:p>
            <a:r>
              <a:rPr lang="en-US" sz="3200" dirty="0"/>
              <a:t>3. Fertility Concerns</a:t>
            </a:r>
          </a:p>
          <a:p>
            <a:r>
              <a:rPr lang="en-US" sz="3200" dirty="0"/>
              <a:t>   </a:t>
            </a:r>
            <a:r>
              <a:rPr lang="en-US" sz="3200" dirty="0" err="1"/>
              <a:t>ttc</a:t>
            </a:r>
            <a:r>
              <a:rPr lang="en-US" sz="3200" dirty="0"/>
              <a:t>, pregnancy, uterus</a:t>
            </a:r>
          </a:p>
          <a:p>
            <a:r>
              <a:rPr lang="en-US" sz="3200" dirty="0"/>
              <a:t>4. Symptom Control</a:t>
            </a:r>
          </a:p>
          <a:p>
            <a:r>
              <a:rPr lang="en-US" sz="3200" dirty="0"/>
              <a:t>   pill, postpartum, endometriosis</a:t>
            </a:r>
          </a:p>
          <a:p>
            <a:r>
              <a:rPr lang="en-US" sz="3200" dirty="0"/>
              <a:t>5. Recovery Timelines</a:t>
            </a:r>
          </a:p>
          <a:p>
            <a:r>
              <a:rPr lang="en-US" sz="3200" dirty="0"/>
              <a:t>   month, myomectomy, cramp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CF32024-8D5C-EBD4-BC74-F999F3961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3250" y="165100"/>
            <a:ext cx="3416300" cy="2794000"/>
          </a:xfrm>
          <a:prstGeom prst="rect">
            <a:avLst/>
          </a:prstGeom>
        </p:spPr>
      </p:pic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02361CE2-507E-1F9B-A75E-6BA9E73A9A11}"/>
              </a:ext>
            </a:extLst>
          </p:cNvPr>
          <p:cNvSpPr txBox="1">
            <a:spLocks/>
          </p:cNvSpPr>
          <p:nvPr/>
        </p:nvSpPr>
        <p:spPr>
          <a:xfrm>
            <a:off x="10546658" y="3633903"/>
            <a:ext cx="10601540" cy="6671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2926080" rtl="0" eaLnBrk="1" latinLnBrk="0" hangingPunct="1">
              <a:lnSpc>
                <a:spcPct val="90000"/>
              </a:lnSpc>
              <a:spcBef>
                <a:spcPts val="3200"/>
              </a:spcBef>
              <a:buFont typeface="Arial" panose="020B0604020202020204" pitchFamily="34" charset="0"/>
              <a:buNone/>
              <a:defRPr sz="4800" kern="1200">
                <a:solidFill>
                  <a:srgbClr val="286DC0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21945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7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206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58368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4672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5097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4358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>
                <a:latin typeface="Inter"/>
              </a:rPr>
              <a:t>Data &amp; </a:t>
            </a:r>
            <a:r>
              <a:rPr lang="en-CA" sz="6000" b="1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en-CA" sz="6000" b="1">
                <a:latin typeface="Inter"/>
              </a:rPr>
              <a:t> </a:t>
            </a:r>
          </a:p>
          <a:p>
            <a:endParaRPr lang="en-US" sz="6000" dirty="0"/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FCF60CE1-AD9B-BF51-4EAF-10C7516B2269}"/>
              </a:ext>
            </a:extLst>
          </p:cNvPr>
          <p:cNvSpPr txBox="1">
            <a:spLocks/>
          </p:cNvSpPr>
          <p:nvPr/>
        </p:nvSpPr>
        <p:spPr>
          <a:xfrm>
            <a:off x="10546657" y="4409545"/>
            <a:ext cx="11398943" cy="56258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2926080" rtl="0" eaLnBrk="1" latinLnBrk="0" hangingPunct="1">
              <a:lnSpc>
                <a:spcPct val="90000"/>
              </a:lnSpc>
              <a:spcBef>
                <a:spcPts val="32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1945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36576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1206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58368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432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804672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5097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4358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CA" sz="3200" dirty="0"/>
              <a:t>Data Source and analytical methods: </a:t>
            </a:r>
          </a:p>
          <a:p>
            <a:pPr>
              <a:lnSpc>
                <a:spcPct val="100000"/>
              </a:lnSpc>
            </a:pPr>
            <a:r>
              <a:rPr lang="en-CA" sz="3200" dirty="0"/>
              <a:t>• Reddit (r/Fibroids subreddit) </a:t>
            </a:r>
          </a:p>
          <a:p>
            <a:pPr>
              <a:lnSpc>
                <a:spcPct val="100000"/>
              </a:lnSpc>
            </a:pPr>
            <a:r>
              <a:rPr lang="en-CA" sz="3200" dirty="0"/>
              <a:t>• 25 patient-authored posts Methods:</a:t>
            </a:r>
          </a:p>
          <a:p>
            <a:pPr>
              <a:lnSpc>
                <a:spcPct val="100000"/>
              </a:lnSpc>
            </a:pPr>
            <a:r>
              <a:rPr lang="en-CA" sz="3200" dirty="0"/>
              <a:t> • Text cleaning and preprocessing</a:t>
            </a:r>
          </a:p>
          <a:p>
            <a:pPr>
              <a:lnSpc>
                <a:spcPct val="100000"/>
              </a:lnSpc>
            </a:pPr>
            <a:r>
              <a:rPr lang="en-CA" sz="3200" dirty="0"/>
              <a:t> • Word frequency analysis </a:t>
            </a:r>
          </a:p>
          <a:p>
            <a:pPr>
              <a:lnSpc>
                <a:spcPct val="100000"/>
              </a:lnSpc>
            </a:pPr>
            <a:r>
              <a:rPr lang="en-CA" sz="3200" dirty="0"/>
              <a:t>• Custom sentiment dictionary</a:t>
            </a:r>
          </a:p>
          <a:p>
            <a:pPr>
              <a:lnSpc>
                <a:spcPct val="100000"/>
              </a:lnSpc>
            </a:pPr>
            <a:r>
              <a:rPr lang="en-CA" sz="3200" dirty="0"/>
              <a:t> • Structural Topic Modeling (STM)</a:t>
            </a:r>
          </a:p>
          <a:p>
            <a:pPr>
              <a:lnSpc>
                <a:spcPct val="100000"/>
              </a:lnSpc>
            </a:pPr>
            <a:br>
              <a:rPr lang="en-CA" sz="3200" dirty="0"/>
            </a:br>
            <a:endParaRPr lang="en-US" sz="32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BB7DD42-F773-2EB7-0734-A22A28323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7814" y="15638664"/>
            <a:ext cx="10308486" cy="5667897"/>
          </a:xfrm>
          <a:prstGeom prst="rect">
            <a:avLst/>
          </a:prstGeom>
        </p:spPr>
      </p:pic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50DA1E38-1303-2626-99D7-6563D2F7E508}"/>
              </a:ext>
            </a:extLst>
          </p:cNvPr>
          <p:cNvSpPr txBox="1">
            <a:spLocks/>
          </p:cNvSpPr>
          <p:nvPr/>
        </p:nvSpPr>
        <p:spPr>
          <a:xfrm>
            <a:off x="33423363" y="10871473"/>
            <a:ext cx="9684064" cy="7585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2926080" rtl="0" eaLnBrk="1" latinLnBrk="0" hangingPunct="1">
              <a:lnSpc>
                <a:spcPct val="90000"/>
              </a:lnSpc>
              <a:spcBef>
                <a:spcPts val="3200"/>
              </a:spcBef>
              <a:buFont typeface="Arial" panose="020B0604020202020204" pitchFamily="34" charset="0"/>
              <a:buNone/>
              <a:defRPr sz="4800" kern="1200">
                <a:solidFill>
                  <a:srgbClr val="286DC0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21945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7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206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58368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4672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5097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4358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latin typeface="Inter"/>
              </a:rPr>
              <a:t>Study limitation</a:t>
            </a:r>
          </a:p>
          <a:p>
            <a:endParaRPr lang="en-US" sz="6000" dirty="0"/>
          </a:p>
        </p:txBody>
      </p:sp>
      <p:sp>
        <p:nvSpPr>
          <p:cNvPr id="52" name="Text Placeholder 15">
            <a:extLst>
              <a:ext uri="{FF2B5EF4-FFF2-40B4-BE49-F238E27FC236}">
                <a16:creationId xmlns:a16="http://schemas.microsoft.com/office/drawing/2014/main" id="{88B9DE3C-DDF0-375C-FE4D-59536BA7F209}"/>
              </a:ext>
            </a:extLst>
          </p:cNvPr>
          <p:cNvSpPr txBox="1">
            <a:spLocks/>
          </p:cNvSpPr>
          <p:nvPr/>
        </p:nvSpPr>
        <p:spPr>
          <a:xfrm>
            <a:off x="33423208" y="11820524"/>
            <a:ext cx="9684219" cy="3305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2926080" rtl="0" eaLnBrk="1" latinLnBrk="0" hangingPunct="1">
              <a:lnSpc>
                <a:spcPct val="90000"/>
              </a:lnSpc>
              <a:spcBef>
                <a:spcPts val="32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21945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7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206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58368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4672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5097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4358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• Small sample size (25 posts)</a:t>
            </a:r>
          </a:p>
          <a:p>
            <a:r>
              <a:rPr lang="en-US" sz="3200" dirty="0"/>
              <a:t>• Self-selection bias</a:t>
            </a:r>
          </a:p>
          <a:p>
            <a:r>
              <a:rPr lang="en-US" sz="3200" dirty="0"/>
              <a:t>• No demographic data available</a:t>
            </a:r>
          </a:p>
          <a:p>
            <a:r>
              <a:rPr lang="en-US" sz="3200" dirty="0"/>
              <a:t>• Cross-sectional design</a:t>
            </a:r>
          </a:p>
          <a:p>
            <a:endParaRPr lang="en-US" sz="3200" dirty="0"/>
          </a:p>
        </p:txBody>
      </p: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464229F1-B533-23E3-DC6D-A7B061BA804B}"/>
              </a:ext>
            </a:extLst>
          </p:cNvPr>
          <p:cNvSpPr txBox="1">
            <a:spLocks/>
          </p:cNvSpPr>
          <p:nvPr/>
        </p:nvSpPr>
        <p:spPr>
          <a:xfrm>
            <a:off x="33461463" y="15443473"/>
            <a:ext cx="9684064" cy="7585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2926080" rtl="0" eaLnBrk="1" latinLnBrk="0" hangingPunct="1">
              <a:lnSpc>
                <a:spcPct val="90000"/>
              </a:lnSpc>
              <a:spcBef>
                <a:spcPts val="3200"/>
              </a:spcBef>
              <a:buFont typeface="Arial" panose="020B0604020202020204" pitchFamily="34" charset="0"/>
              <a:buNone/>
              <a:defRPr sz="4800" kern="1200">
                <a:solidFill>
                  <a:srgbClr val="286DC0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21945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7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206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58368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4672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5097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4358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latin typeface="Inter"/>
              </a:rPr>
              <a:t>Reference</a:t>
            </a:r>
          </a:p>
          <a:p>
            <a:endParaRPr lang="en-US" sz="6000" dirty="0"/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9489DEB0-2316-B8A1-B503-EAE77146173E}"/>
              </a:ext>
            </a:extLst>
          </p:cNvPr>
          <p:cNvSpPr txBox="1">
            <a:spLocks/>
          </p:cNvSpPr>
          <p:nvPr/>
        </p:nvSpPr>
        <p:spPr>
          <a:xfrm>
            <a:off x="33461308" y="16544924"/>
            <a:ext cx="9684219" cy="3305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2926080" rtl="0" eaLnBrk="1" latinLnBrk="0" hangingPunct="1">
              <a:lnSpc>
                <a:spcPct val="90000"/>
              </a:lnSpc>
              <a:spcBef>
                <a:spcPts val="32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21945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7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206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58368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4672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5097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4358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De Choudhury, M., Morris, M., &amp; White, R. (2014). Seeking and sharing health information online. ACM TOCHI, 21(1), 1–32.</a:t>
            </a:r>
          </a:p>
          <a:p>
            <a:r>
              <a:rPr lang="en-US" sz="3200" dirty="0"/>
              <a:t>Stewart, E. A. (2015). Uterine fibroids. New England Journal of Medicine, 372, 1646–1655</a:t>
            </a:r>
          </a:p>
          <a:p>
            <a:endParaRPr lang="en-US" sz="3200" dirty="0"/>
          </a:p>
        </p:txBody>
      </p:sp>
      <p:sp>
        <p:nvSpPr>
          <p:cNvPr id="59" name="Text Placeholder 13">
            <a:extLst>
              <a:ext uri="{FF2B5EF4-FFF2-40B4-BE49-F238E27FC236}">
                <a16:creationId xmlns:a16="http://schemas.microsoft.com/office/drawing/2014/main" id="{E18FE9F0-30EC-0C0F-A89B-54ADAE648534}"/>
              </a:ext>
            </a:extLst>
          </p:cNvPr>
          <p:cNvSpPr txBox="1">
            <a:spLocks/>
          </p:cNvSpPr>
          <p:nvPr/>
        </p:nvSpPr>
        <p:spPr>
          <a:xfrm>
            <a:off x="853463" y="17649826"/>
            <a:ext cx="8812530" cy="1819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2926080" rtl="0" eaLnBrk="1" latinLnBrk="0" hangingPunct="1">
              <a:lnSpc>
                <a:spcPct val="90000"/>
              </a:lnSpc>
              <a:spcBef>
                <a:spcPts val="32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21945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7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206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58368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4672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5097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4358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CA" sz="3200" dirty="0"/>
              <a:t>Most (60%) women would describe improvement after myomectomy, such as reduced pain or bleeding</a:t>
            </a:r>
            <a:endParaRPr lang="en-US" sz="3200" dirty="0"/>
          </a:p>
        </p:txBody>
      </p:sp>
      <p:sp>
        <p:nvSpPr>
          <p:cNvPr id="62" name="Text Placeholder 12">
            <a:extLst>
              <a:ext uri="{FF2B5EF4-FFF2-40B4-BE49-F238E27FC236}">
                <a16:creationId xmlns:a16="http://schemas.microsoft.com/office/drawing/2014/main" id="{87FB2804-1A19-2D72-D40F-DA32097DBAA6}"/>
              </a:ext>
            </a:extLst>
          </p:cNvPr>
          <p:cNvSpPr txBox="1">
            <a:spLocks/>
          </p:cNvSpPr>
          <p:nvPr/>
        </p:nvSpPr>
        <p:spPr>
          <a:xfrm>
            <a:off x="831318" y="12941982"/>
            <a:ext cx="9198530" cy="29956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2926080" rtl="0" eaLnBrk="1" latinLnBrk="0" hangingPunct="1">
              <a:lnSpc>
                <a:spcPct val="90000"/>
              </a:lnSpc>
              <a:spcBef>
                <a:spcPts val="32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21945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7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206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58368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4672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5097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4358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CA" sz="3200" dirty="0">
                <a:solidFill>
                  <a:srgbClr val="202529"/>
                </a:solidFill>
              </a:rPr>
              <a:t>How do women describe their experiences of recovery, symptoms, and emotional well-being following myomectomy in on Reddit, and what themes dominate these patient-authored discussions.</a:t>
            </a:r>
          </a:p>
          <a:p>
            <a:pPr>
              <a:spcBef>
                <a:spcPts val="0"/>
              </a:spcBef>
            </a:pPr>
            <a:endParaRPr lang="en-CA" sz="3200" dirty="0">
              <a:solidFill>
                <a:srgbClr val="000000"/>
              </a:solidFill>
            </a:endParaRPr>
          </a:p>
          <a:p>
            <a:endParaRPr lang="en-US" sz="3200" dirty="0"/>
          </a:p>
        </p:txBody>
      </p:sp>
      <p:sp>
        <p:nvSpPr>
          <p:cNvPr id="65" name="Text Placeholder 6">
            <a:extLst>
              <a:ext uri="{FF2B5EF4-FFF2-40B4-BE49-F238E27FC236}">
                <a16:creationId xmlns:a16="http://schemas.microsoft.com/office/drawing/2014/main" id="{2C3E64EA-743A-501C-98C9-72F7761EDE41}"/>
              </a:ext>
            </a:extLst>
          </p:cNvPr>
          <p:cNvSpPr txBox="1">
            <a:spLocks/>
          </p:cNvSpPr>
          <p:nvPr/>
        </p:nvSpPr>
        <p:spPr>
          <a:xfrm>
            <a:off x="793218" y="16432769"/>
            <a:ext cx="8851392" cy="7638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2926080" rtl="0" eaLnBrk="1" latinLnBrk="0" hangingPunct="1">
              <a:lnSpc>
                <a:spcPct val="90000"/>
              </a:lnSpc>
              <a:spcBef>
                <a:spcPts val="3200"/>
              </a:spcBef>
              <a:buFont typeface="Arial" panose="020B0604020202020204" pitchFamily="34" charset="0"/>
              <a:buNone/>
              <a:defRPr sz="4800" kern="1200">
                <a:solidFill>
                  <a:srgbClr val="286DC0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21945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7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206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58368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4672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5097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4358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CA" sz="6000" b="1" dirty="0">
                <a:latin typeface="Arial" panose="020B0604020202020204" pitchFamily="34" charset="0"/>
                <a:cs typeface="Arial" panose="020B0604020202020204" pitchFamily="34" charset="0"/>
              </a:rPr>
              <a:t>Hypothesis</a:t>
            </a:r>
          </a:p>
          <a:p>
            <a:pPr>
              <a:spcBef>
                <a:spcPts val="0"/>
              </a:spcBef>
            </a:pPr>
            <a:endParaRPr lang="en-CA" sz="6000" dirty="0">
              <a:solidFill>
                <a:srgbClr val="20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CA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 Placeholder 6">
            <a:extLst>
              <a:ext uri="{FF2B5EF4-FFF2-40B4-BE49-F238E27FC236}">
                <a16:creationId xmlns:a16="http://schemas.microsoft.com/office/drawing/2014/main" id="{CBDB78C6-FB52-C7A4-E089-8E309304FD61}"/>
              </a:ext>
            </a:extLst>
          </p:cNvPr>
          <p:cNvSpPr txBox="1">
            <a:spLocks/>
          </p:cNvSpPr>
          <p:nvPr/>
        </p:nvSpPr>
        <p:spPr>
          <a:xfrm>
            <a:off x="10508718" y="10717769"/>
            <a:ext cx="8851392" cy="7638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2926080" rtl="0" eaLnBrk="1" latinLnBrk="0" hangingPunct="1">
              <a:lnSpc>
                <a:spcPct val="90000"/>
              </a:lnSpc>
              <a:spcBef>
                <a:spcPts val="3200"/>
              </a:spcBef>
              <a:buFont typeface="Arial" panose="020B0604020202020204" pitchFamily="34" charset="0"/>
              <a:buNone/>
              <a:defRPr sz="4800" kern="1200">
                <a:solidFill>
                  <a:srgbClr val="286DC0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21945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7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206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58368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4672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5097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4358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CA" sz="60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spcBef>
                <a:spcPts val="0"/>
              </a:spcBef>
            </a:pPr>
            <a:endParaRPr lang="en-CA" sz="6000" dirty="0">
              <a:solidFill>
                <a:srgbClr val="20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CA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Placeholder 12">
            <a:extLst>
              <a:ext uri="{FF2B5EF4-FFF2-40B4-BE49-F238E27FC236}">
                <a16:creationId xmlns:a16="http://schemas.microsoft.com/office/drawing/2014/main" id="{C08BCDE0-5D7E-882C-36BF-1778A3E5A68E}"/>
              </a:ext>
            </a:extLst>
          </p:cNvPr>
          <p:cNvSpPr txBox="1">
            <a:spLocks/>
          </p:cNvSpPr>
          <p:nvPr/>
        </p:nvSpPr>
        <p:spPr>
          <a:xfrm>
            <a:off x="10584918" y="11646582"/>
            <a:ext cx="9198530" cy="29956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2926080" rtl="0" eaLnBrk="1" latinLnBrk="0" hangingPunct="1">
              <a:lnSpc>
                <a:spcPct val="90000"/>
              </a:lnSpc>
              <a:spcBef>
                <a:spcPts val="32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21945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7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206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58368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4672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50976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435840" indent="-731520" algn="l" defTabSz="292608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5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CA" sz="3200" dirty="0">
                <a:solidFill>
                  <a:srgbClr val="202529"/>
                </a:solidFill>
              </a:rPr>
              <a:t>From the analysis (word frequency analysis), the top 5 most frequent terms are listed below and the overall data is presented in Figure 1: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CA" sz="3200" dirty="0">
                <a:solidFill>
                  <a:srgbClr val="202529"/>
                </a:solidFill>
              </a:rPr>
              <a:t>fibroid 41 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CA" sz="3200" dirty="0">
                <a:solidFill>
                  <a:srgbClr val="202529"/>
                </a:solidFill>
              </a:rPr>
              <a:t>pain 17 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CA" sz="3200" dirty="0" err="1">
                <a:solidFill>
                  <a:srgbClr val="202529"/>
                </a:solidFill>
              </a:rPr>
              <a:t>remov</a:t>
            </a:r>
            <a:r>
              <a:rPr lang="en-CA" sz="3200" dirty="0">
                <a:solidFill>
                  <a:srgbClr val="202529"/>
                </a:solidFill>
              </a:rPr>
              <a:t> 17 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CA" sz="3200" dirty="0" err="1">
                <a:solidFill>
                  <a:srgbClr val="202529"/>
                </a:solidFill>
              </a:rPr>
              <a:t>surgeri</a:t>
            </a:r>
            <a:r>
              <a:rPr lang="en-CA" sz="3200" dirty="0">
                <a:solidFill>
                  <a:srgbClr val="202529"/>
                </a:solidFill>
              </a:rPr>
              <a:t> 15 </a:t>
            </a:r>
          </a:p>
          <a:p>
            <a:pPr>
              <a:spcBef>
                <a:spcPts val="0"/>
              </a:spcBef>
            </a:pPr>
            <a:endParaRPr lang="en-CA" sz="3200" dirty="0">
              <a:solidFill>
                <a:srgbClr val="000000"/>
              </a:solidFill>
            </a:endParaRPr>
          </a:p>
          <a:p>
            <a:endParaRPr lang="en-US" sz="3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C6D2466-8593-D6A4-A9CD-FDAF3A7C42ED}"/>
              </a:ext>
            </a:extLst>
          </p:cNvPr>
          <p:cNvSpPr txBox="1"/>
          <p:nvPr/>
        </p:nvSpPr>
        <p:spPr>
          <a:xfrm>
            <a:off x="10782300" y="20916900"/>
            <a:ext cx="8121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Figure 1: Visualization of the most frequent words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4C3AB-1906-D438-1536-39DEC0E2344D}"/>
              </a:ext>
            </a:extLst>
          </p:cNvPr>
          <p:cNvSpPr txBox="1"/>
          <p:nvPr/>
        </p:nvSpPr>
        <p:spPr>
          <a:xfrm>
            <a:off x="36700691" y="22402800"/>
            <a:ext cx="184731" cy="1113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75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3404</TotalTime>
  <Words>444</Words>
  <Application>Microsoft Macintosh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Comic Sans MS</vt:lpstr>
      <vt:lpstr>Georgia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Mercy Ogbede</cp:lastModifiedBy>
  <cp:revision>18</cp:revision>
  <cp:lastPrinted>2025-12-19T20:32:41Z</cp:lastPrinted>
  <dcterms:created xsi:type="dcterms:W3CDTF">2020-02-19T18:03:17Z</dcterms:created>
  <dcterms:modified xsi:type="dcterms:W3CDTF">2025-12-22T17:18:04Z</dcterms:modified>
</cp:coreProperties>
</file>